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" name="Google Shape;38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9" name="Google Shape;39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" name="Google Shape;71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72" name="Google Shape;72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" name="Google Shape;99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0" name="Google Shape;100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32" name="Google Shape;132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0" name="Google Shape;150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51" name="Google Shape;151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61" name="Google Shape;161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9" name="Google Shape;179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80" name="Google Shape;180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9" name="Google Shape;199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00" name="Google Shape;200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8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552450" y="514350"/>
            <a:ext cx="2000250" cy="323850"/>
          </a:xfrm>
          <a:prstGeom prst="roundRect">
            <a:avLst>
              <a:gd fmla="val 23529" name="adj"/>
            </a:avLst>
          </a:prstGeom>
          <a:solidFill>
            <a:srgbClr val="9F0712"/>
          </a:solidFill>
          <a:ln cap="flat" cmpd="sng" w="9525">
            <a:solidFill>
              <a:srgbClr val="9F07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666750" y="581025"/>
            <a:ext cx="17716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FFE2E2"/>
                </a:solidFill>
                <a:latin typeface="Calibri"/>
                <a:ea typeface="Calibri"/>
                <a:cs typeface="Calibri"/>
                <a:sym typeface="Calibri"/>
              </a:rPr>
              <a:t>Spring Boot + MySQL</a:t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552450" y="1428750"/>
            <a:ext cx="99060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Система за управление на задачи</a:t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552450" y="2133600"/>
            <a:ext cx="85725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>
                <a:solidFill>
                  <a:srgbClr val="FFA2A2"/>
                </a:solidFill>
                <a:latin typeface="Calibri"/>
                <a:ea typeface="Calibri"/>
                <a:cs typeface="Calibri"/>
                <a:sym typeface="Calibri"/>
              </a:rPr>
              <a:t>със срокове и приоритети</a:t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590550" y="3333750"/>
            <a:ext cx="6953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>
                <a:solidFill>
                  <a:srgbClr val="CAD5E2"/>
                </a:solidFill>
                <a:latin typeface="Calibri"/>
                <a:ea typeface="Calibri"/>
                <a:cs typeface="Calibri"/>
                <a:sym typeface="Calibri"/>
              </a:rPr>
              <a:t>Проект по производствена практика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>
                <a:solidFill>
                  <a:srgbClr val="CAD5E2"/>
                </a:solidFill>
                <a:latin typeface="Calibri"/>
                <a:ea typeface="Calibri"/>
                <a:cs typeface="Calibri"/>
                <a:sym typeface="Calibri"/>
              </a:rPr>
              <a:t>Java 17 • Spring Boot • MySQL • HTML/CSS/JavaScript</a:t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8096250" y="1333500"/>
            <a:ext cx="3143250" cy="3143250"/>
          </a:xfrm>
          <a:prstGeom prst="roundRect">
            <a:avLst>
              <a:gd fmla="val 2424" name="adj"/>
            </a:avLst>
          </a:prstGeom>
          <a:solidFill>
            <a:srgbClr val="1D293D"/>
          </a:solidFill>
          <a:ln cap="flat" cmpd="sng" w="9525">
            <a:solidFill>
              <a:srgbClr val="314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8524875" y="2143125"/>
            <a:ext cx="2286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TASK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MANAGER</a:t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8048625" y="5143500"/>
            <a:ext cx="342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>
                <a:solidFill>
                  <a:srgbClr val="90A1B9"/>
                </a:solidFill>
                <a:latin typeface="Calibri"/>
                <a:ea typeface="Calibri"/>
                <a:cs typeface="Calibri"/>
                <a:sym typeface="Calibri"/>
              </a:rPr>
              <a:t>лични задачи • коментари • база данни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8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552450" y="285750"/>
            <a:ext cx="4000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FFA2A2"/>
                </a:solidFill>
                <a:latin typeface="Calibri"/>
                <a:ea typeface="Calibri"/>
                <a:cs typeface="Calibri"/>
                <a:sym typeface="Calibri"/>
              </a:rPr>
              <a:t>TASK MANAGER</a:t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552450" y="609600"/>
            <a:ext cx="9334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Проектът решава конкретен проблем</a:t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552450" y="1200150"/>
            <a:ext cx="11087100" cy="9525"/>
          </a:xfrm>
          <a:prstGeom prst="rect">
            <a:avLst/>
          </a:prstGeom>
          <a:solidFill>
            <a:srgbClr val="314158"/>
          </a:solidFill>
          <a:ln cap="flat" cmpd="sng" w="9525">
            <a:solidFill>
              <a:srgbClr val="314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656975" y="1524000"/>
            <a:ext cx="7239000" cy="8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Целта е да се създаде уеб система, в която потребителят управлява лични задачи с ясни срокове, приоритети и статус на изпълнение.</a:t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1067675" y="3134525"/>
            <a:ext cx="6417600" cy="2236500"/>
          </a:xfrm>
          <a:prstGeom prst="roundRect">
            <a:avLst>
              <a:gd fmla="val 2667" name="adj"/>
            </a:avLst>
          </a:prstGeom>
          <a:solidFill>
            <a:srgbClr val="0F172B"/>
          </a:solidFill>
          <a:ln cap="flat" cmpd="sng" w="9525">
            <a:solidFill>
              <a:srgbClr val="314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3435188" y="3291563"/>
            <a:ext cx="2190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>
                <a:solidFill>
                  <a:srgbClr val="FFC9C9"/>
                </a:solidFill>
                <a:latin typeface="Calibri"/>
                <a:ea typeface="Calibri"/>
                <a:cs typeface="Calibri"/>
                <a:sym typeface="Calibri"/>
              </a:rPr>
              <a:t>Основна идея</a:t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1363921" y="4191550"/>
            <a:ext cx="58695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Всеки потребител вижда само своите задачи и може да ги управлява през удобен уеб интерфейс.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8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/>
          <p:nvPr/>
        </p:nvSpPr>
        <p:spPr>
          <a:xfrm>
            <a:off x="552450" y="285750"/>
            <a:ext cx="4000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FFA2A2"/>
                </a:solidFill>
                <a:latin typeface="Calibri"/>
                <a:ea typeface="Calibri"/>
                <a:cs typeface="Calibri"/>
                <a:sym typeface="Calibri"/>
              </a:rPr>
              <a:t>TASK MANAGER</a:t>
            </a:r>
            <a:endParaRPr/>
          </a:p>
        </p:txBody>
      </p:sp>
      <p:sp>
        <p:nvSpPr>
          <p:cNvPr id="42" name="Google Shape;42;p5"/>
          <p:cNvSpPr/>
          <p:nvPr/>
        </p:nvSpPr>
        <p:spPr>
          <a:xfrm>
            <a:off x="552450" y="609600"/>
            <a:ext cx="9334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Системата е изградена с познати уеб технологии</a:t>
            </a:r>
            <a:endParaRPr/>
          </a:p>
        </p:txBody>
      </p:sp>
      <p:sp>
        <p:nvSpPr>
          <p:cNvPr id="43" name="Google Shape;43;p5"/>
          <p:cNvSpPr/>
          <p:nvPr/>
        </p:nvSpPr>
        <p:spPr>
          <a:xfrm>
            <a:off x="552450" y="1200150"/>
            <a:ext cx="11087100" cy="9525"/>
          </a:xfrm>
          <a:prstGeom prst="rect">
            <a:avLst/>
          </a:prstGeom>
          <a:solidFill>
            <a:srgbClr val="314158"/>
          </a:solidFill>
          <a:ln cap="flat" cmpd="sng" w="9525">
            <a:solidFill>
              <a:srgbClr val="314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666750" y="1695450"/>
            <a:ext cx="3143250" cy="3048000"/>
          </a:xfrm>
          <a:prstGeom prst="roundRect">
            <a:avLst>
              <a:gd fmla="val 2500" name="adj"/>
            </a:avLst>
          </a:prstGeom>
          <a:solidFill>
            <a:srgbClr val="1D293D"/>
          </a:solidFill>
          <a:ln cap="flat" cmpd="sng" w="9525">
            <a:solidFill>
              <a:srgbClr val="314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5"/>
          <p:cNvSpPr/>
          <p:nvPr/>
        </p:nvSpPr>
        <p:spPr>
          <a:xfrm>
            <a:off x="933450" y="2038350"/>
            <a:ext cx="2286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>
                <a:solidFill>
                  <a:srgbClr val="FFC9C9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/>
          </a:p>
        </p:txBody>
      </p:sp>
      <p:sp>
        <p:nvSpPr>
          <p:cNvPr id="46" name="Google Shape;46;p5"/>
          <p:cNvSpPr/>
          <p:nvPr/>
        </p:nvSpPr>
        <p:spPr>
          <a:xfrm>
            <a:off x="971550" y="2724150"/>
            <a:ext cx="228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>
                <a:solidFill>
                  <a:srgbClr val="FF6467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/>
          </a:p>
        </p:txBody>
      </p:sp>
      <p:sp>
        <p:nvSpPr>
          <p:cNvPr id="47" name="Google Shape;47;p5"/>
          <p:cNvSpPr/>
          <p:nvPr/>
        </p:nvSpPr>
        <p:spPr>
          <a:xfrm>
            <a:off x="1295400" y="2724150"/>
            <a:ext cx="21907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Java 17</a:t>
            </a:r>
            <a:endParaRPr/>
          </a:p>
        </p:txBody>
      </p:sp>
      <p:sp>
        <p:nvSpPr>
          <p:cNvPr id="48" name="Google Shape;48;p5"/>
          <p:cNvSpPr/>
          <p:nvPr/>
        </p:nvSpPr>
        <p:spPr>
          <a:xfrm>
            <a:off x="971550" y="3238500"/>
            <a:ext cx="228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>
                <a:solidFill>
                  <a:srgbClr val="FF6467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/>
          </a:p>
        </p:txBody>
      </p:sp>
      <p:sp>
        <p:nvSpPr>
          <p:cNvPr id="49" name="Google Shape;49;p5"/>
          <p:cNvSpPr/>
          <p:nvPr/>
        </p:nvSpPr>
        <p:spPr>
          <a:xfrm>
            <a:off x="1295400" y="3238500"/>
            <a:ext cx="21907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Spring Boot</a:t>
            </a:r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971550" y="3752850"/>
            <a:ext cx="228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>
                <a:solidFill>
                  <a:srgbClr val="FF6467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/>
          </a:p>
        </p:txBody>
      </p:sp>
      <p:sp>
        <p:nvSpPr>
          <p:cNvPr id="51" name="Google Shape;51;p5"/>
          <p:cNvSpPr/>
          <p:nvPr/>
        </p:nvSpPr>
        <p:spPr>
          <a:xfrm>
            <a:off x="1295400" y="3752850"/>
            <a:ext cx="21907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Spring Web</a:t>
            </a: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4476750" y="1695450"/>
            <a:ext cx="3143250" cy="3048000"/>
          </a:xfrm>
          <a:prstGeom prst="roundRect">
            <a:avLst>
              <a:gd fmla="val 2500" name="adj"/>
            </a:avLst>
          </a:prstGeom>
          <a:solidFill>
            <a:srgbClr val="1D293D"/>
          </a:solidFill>
          <a:ln cap="flat" cmpd="sng" w="9525">
            <a:solidFill>
              <a:srgbClr val="314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4743450" y="2038350"/>
            <a:ext cx="2286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>
                <a:solidFill>
                  <a:srgbClr val="FFC9C9"/>
                </a:solidFill>
                <a:latin typeface="Calibri"/>
                <a:ea typeface="Calibri"/>
                <a:cs typeface="Calibri"/>
                <a:sym typeface="Calibri"/>
              </a:rPr>
              <a:t>Данни</a:t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4781550" y="2724150"/>
            <a:ext cx="228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>
                <a:solidFill>
                  <a:srgbClr val="FF6467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5105400" y="2724150"/>
            <a:ext cx="21907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Spring Data JPA</a:t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4781550" y="3238500"/>
            <a:ext cx="228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>
                <a:solidFill>
                  <a:srgbClr val="FF6467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5105400" y="3238500"/>
            <a:ext cx="21907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MySQL</a:t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4781550" y="3752850"/>
            <a:ext cx="228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>
                <a:solidFill>
                  <a:srgbClr val="FF6467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5105400" y="3752850"/>
            <a:ext cx="21907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Repositories</a:t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8286750" y="1695450"/>
            <a:ext cx="3143250" cy="3048000"/>
          </a:xfrm>
          <a:prstGeom prst="roundRect">
            <a:avLst>
              <a:gd fmla="val 2500" name="adj"/>
            </a:avLst>
          </a:prstGeom>
          <a:solidFill>
            <a:srgbClr val="1D293D"/>
          </a:solidFill>
          <a:ln cap="flat" cmpd="sng" w="9525">
            <a:solidFill>
              <a:srgbClr val="314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8553450" y="2038350"/>
            <a:ext cx="2286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>
                <a:solidFill>
                  <a:srgbClr val="FFC9C9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8591550" y="2724150"/>
            <a:ext cx="228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>
                <a:solidFill>
                  <a:srgbClr val="FF6467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8915400" y="2724150"/>
            <a:ext cx="21907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HTML5</a:t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8591550" y="3238500"/>
            <a:ext cx="228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>
                <a:solidFill>
                  <a:srgbClr val="FF6467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8915400" y="3238500"/>
            <a:ext cx="21907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CSS3</a:t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8591550" y="3752850"/>
            <a:ext cx="228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>
                <a:solidFill>
                  <a:srgbClr val="FF6467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8915400" y="3752850"/>
            <a:ext cx="21907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JavaScript</a:t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895350" y="5257800"/>
            <a:ext cx="9525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>
                <a:solidFill>
                  <a:srgbClr val="CAD5E2"/>
                </a:solidFill>
                <a:latin typeface="Calibri"/>
                <a:ea typeface="Calibri"/>
                <a:cs typeface="Calibri"/>
                <a:sym typeface="Calibri"/>
              </a:rPr>
              <a:t>Maven се използва за управление на зависимостите и стартиране на тестове.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8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"/>
          <p:cNvSpPr/>
          <p:nvPr/>
        </p:nvSpPr>
        <p:spPr>
          <a:xfrm>
            <a:off x="552450" y="285750"/>
            <a:ext cx="4000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FFA2A2"/>
                </a:solidFill>
                <a:latin typeface="Calibri"/>
                <a:ea typeface="Calibri"/>
                <a:cs typeface="Calibri"/>
                <a:sym typeface="Calibri"/>
              </a:rPr>
              <a:t>TASK MANAGER</a:t>
            </a:r>
            <a:endParaRPr/>
          </a:p>
        </p:txBody>
      </p:sp>
      <p:sp>
        <p:nvSpPr>
          <p:cNvPr id="75" name="Google Shape;75;p6"/>
          <p:cNvSpPr/>
          <p:nvPr/>
        </p:nvSpPr>
        <p:spPr>
          <a:xfrm>
            <a:off x="552450" y="609600"/>
            <a:ext cx="9334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Архитектурата разделя интерфейса, логиката и данните</a:t>
            </a:r>
            <a:endParaRPr/>
          </a:p>
        </p:txBody>
      </p:sp>
      <p:sp>
        <p:nvSpPr>
          <p:cNvPr id="76" name="Google Shape;76;p6"/>
          <p:cNvSpPr/>
          <p:nvPr/>
        </p:nvSpPr>
        <p:spPr>
          <a:xfrm>
            <a:off x="552450" y="1200150"/>
            <a:ext cx="11087100" cy="9525"/>
          </a:xfrm>
          <a:prstGeom prst="rect">
            <a:avLst/>
          </a:prstGeom>
          <a:solidFill>
            <a:srgbClr val="314158"/>
          </a:solidFill>
          <a:ln cap="flat" cmpd="sng" w="9525">
            <a:solidFill>
              <a:srgbClr val="314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6"/>
          <p:cNvSpPr/>
          <p:nvPr/>
        </p:nvSpPr>
        <p:spPr>
          <a:xfrm>
            <a:off x="609600" y="2333625"/>
            <a:ext cx="1847850" cy="1352550"/>
          </a:xfrm>
          <a:prstGeom prst="roundRect">
            <a:avLst>
              <a:gd fmla="val 5634" name="adj"/>
            </a:avLst>
          </a:prstGeom>
          <a:solidFill>
            <a:srgbClr val="1D293D"/>
          </a:solidFill>
          <a:ln cap="flat" cmpd="sng" w="9525">
            <a:solidFill>
              <a:srgbClr val="314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6"/>
          <p:cNvSpPr/>
          <p:nvPr/>
        </p:nvSpPr>
        <p:spPr>
          <a:xfrm>
            <a:off x="781050" y="2581275"/>
            <a:ext cx="1504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Потребител</a:t>
            </a:r>
            <a:endParaRPr/>
          </a:p>
        </p:txBody>
      </p:sp>
      <p:sp>
        <p:nvSpPr>
          <p:cNvPr id="79" name="Google Shape;79;p6"/>
          <p:cNvSpPr/>
          <p:nvPr/>
        </p:nvSpPr>
        <p:spPr>
          <a:xfrm>
            <a:off x="781050" y="3057525"/>
            <a:ext cx="15049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CAD5E2"/>
                </a:solidFill>
                <a:latin typeface="Calibri"/>
                <a:ea typeface="Calibri"/>
                <a:cs typeface="Calibri"/>
                <a:sym typeface="Calibri"/>
              </a:rPr>
              <a:t>работи през браузър</a:t>
            </a: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2491950" y="2790825"/>
            <a:ext cx="514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>
                <a:solidFill>
                  <a:srgbClr val="FFA2A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3040800" y="2333700"/>
            <a:ext cx="1848000" cy="1352700"/>
          </a:xfrm>
          <a:prstGeom prst="roundRect">
            <a:avLst>
              <a:gd fmla="val 5634" name="adj"/>
            </a:avLst>
          </a:prstGeom>
          <a:solidFill>
            <a:srgbClr val="1D293D"/>
          </a:solidFill>
          <a:ln cap="flat" cmpd="sng" w="9525">
            <a:solidFill>
              <a:srgbClr val="314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3212250" y="2581350"/>
            <a:ext cx="15051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/>
          </a:p>
        </p:txBody>
      </p:sp>
      <p:sp>
        <p:nvSpPr>
          <p:cNvPr id="83" name="Google Shape;83;p6"/>
          <p:cNvSpPr/>
          <p:nvPr/>
        </p:nvSpPr>
        <p:spPr>
          <a:xfrm>
            <a:off x="3212250" y="3057600"/>
            <a:ext cx="1505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CAD5E2"/>
                </a:solidFill>
                <a:latin typeface="Calibri"/>
                <a:ea typeface="Calibri"/>
                <a:cs typeface="Calibri"/>
                <a:sym typeface="Calibri"/>
              </a:rPr>
              <a:t>HTML, CSS, JavaScript</a:t>
            </a: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4819650" y="2790825"/>
            <a:ext cx="5143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>
                <a:solidFill>
                  <a:srgbClr val="FFA2A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5300550" y="2333625"/>
            <a:ext cx="1848000" cy="1352700"/>
          </a:xfrm>
          <a:prstGeom prst="roundRect">
            <a:avLst>
              <a:gd fmla="val 5634" name="adj"/>
            </a:avLst>
          </a:prstGeom>
          <a:solidFill>
            <a:srgbClr val="1D293D"/>
          </a:solidFill>
          <a:ln cap="flat" cmpd="sng" w="9525">
            <a:solidFill>
              <a:srgbClr val="314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5472000" y="2581275"/>
            <a:ext cx="15051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REST API</a:t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5472000" y="3057525"/>
            <a:ext cx="1505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CAD5E2"/>
                </a:solidFill>
                <a:latin typeface="Calibri"/>
                <a:ea typeface="Calibri"/>
                <a:cs typeface="Calibri"/>
                <a:sym typeface="Calibri"/>
              </a:rPr>
              <a:t>controllers</a:t>
            </a: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7086600" y="2790825"/>
            <a:ext cx="5143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>
                <a:solidFill>
                  <a:srgbClr val="FFA2A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7553250" y="2333625"/>
            <a:ext cx="1848000" cy="1352700"/>
          </a:xfrm>
          <a:prstGeom prst="roundRect">
            <a:avLst>
              <a:gd fmla="val 5634" name="adj"/>
            </a:avLst>
          </a:prstGeom>
          <a:solidFill>
            <a:srgbClr val="460809"/>
          </a:solidFill>
          <a:ln cap="flat" cmpd="sng" w="9525">
            <a:solidFill>
              <a:srgbClr val="9F07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7724700" y="2581275"/>
            <a:ext cx="15051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Service Layer</a:t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7724700" y="3057525"/>
            <a:ext cx="1505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CAD5E2"/>
                </a:solidFill>
                <a:latin typeface="Calibri"/>
                <a:ea typeface="Calibri"/>
                <a:cs typeface="Calibri"/>
                <a:sym typeface="Calibri"/>
              </a:rPr>
              <a:t>бизнес логика</a:t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9353550" y="2790825"/>
            <a:ext cx="5143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>
                <a:solidFill>
                  <a:srgbClr val="FFA2A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9963150" y="2333625"/>
            <a:ext cx="1848000" cy="1352700"/>
          </a:xfrm>
          <a:prstGeom prst="roundRect">
            <a:avLst>
              <a:gd fmla="val 5634" name="adj"/>
            </a:avLst>
          </a:prstGeom>
          <a:solidFill>
            <a:srgbClr val="1D293D"/>
          </a:solidFill>
          <a:ln cap="flat" cmpd="sng" w="9525">
            <a:solidFill>
              <a:srgbClr val="314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10134600" y="2581275"/>
            <a:ext cx="15051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MySQL</a:t>
            </a: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10134600" y="3057525"/>
            <a:ext cx="1505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CAD5E2"/>
                </a:solidFill>
                <a:latin typeface="Calibri"/>
                <a:ea typeface="Calibri"/>
                <a:cs typeface="Calibri"/>
                <a:sym typeface="Calibri"/>
              </a:rPr>
              <a:t>постоянно съхранение</a:t>
            </a: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876300" y="4648200"/>
            <a:ext cx="9810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5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Този подход улеснява разширяването на проекта и прави кода по-подреден.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8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"/>
          <p:cNvSpPr/>
          <p:nvPr/>
        </p:nvSpPr>
        <p:spPr>
          <a:xfrm>
            <a:off x="552450" y="285750"/>
            <a:ext cx="4000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FFA2A2"/>
                </a:solidFill>
                <a:latin typeface="Calibri"/>
                <a:ea typeface="Calibri"/>
                <a:cs typeface="Calibri"/>
                <a:sym typeface="Calibri"/>
              </a:rPr>
              <a:t>TASK MANAGER</a:t>
            </a:r>
            <a:endParaRPr/>
          </a:p>
        </p:txBody>
      </p:sp>
      <p:sp>
        <p:nvSpPr>
          <p:cNvPr id="103" name="Google Shape;103;p7"/>
          <p:cNvSpPr/>
          <p:nvPr/>
        </p:nvSpPr>
        <p:spPr>
          <a:xfrm>
            <a:off x="552450" y="609600"/>
            <a:ext cx="9334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Основните функции покриват изискванията на заданието</a:t>
            </a:r>
            <a:endParaRPr/>
          </a:p>
        </p:txBody>
      </p:sp>
      <p:sp>
        <p:nvSpPr>
          <p:cNvPr id="104" name="Google Shape;104;p7"/>
          <p:cNvSpPr/>
          <p:nvPr/>
        </p:nvSpPr>
        <p:spPr>
          <a:xfrm>
            <a:off x="552450" y="1200150"/>
            <a:ext cx="11087100" cy="9525"/>
          </a:xfrm>
          <a:prstGeom prst="rect">
            <a:avLst/>
          </a:prstGeom>
          <a:solidFill>
            <a:srgbClr val="314158"/>
          </a:solidFill>
          <a:ln cap="flat" cmpd="sng" w="9525">
            <a:solidFill>
              <a:srgbClr val="314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7"/>
          <p:cNvSpPr/>
          <p:nvPr/>
        </p:nvSpPr>
        <p:spPr>
          <a:xfrm>
            <a:off x="666750" y="1562100"/>
            <a:ext cx="5000625" cy="3905250"/>
          </a:xfrm>
          <a:prstGeom prst="roundRect">
            <a:avLst>
              <a:gd fmla="val 1951" name="adj"/>
            </a:avLst>
          </a:prstGeom>
          <a:solidFill>
            <a:srgbClr val="1D293D"/>
          </a:solidFill>
          <a:ln cap="flat" cmpd="sng" w="9525">
            <a:solidFill>
              <a:srgbClr val="314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7"/>
          <p:cNvSpPr/>
          <p:nvPr/>
        </p:nvSpPr>
        <p:spPr>
          <a:xfrm>
            <a:off x="990600" y="1885950"/>
            <a:ext cx="37147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>
                <a:solidFill>
                  <a:srgbClr val="FFC9C9"/>
                </a:solidFill>
                <a:latin typeface="Calibri"/>
                <a:ea typeface="Calibri"/>
                <a:cs typeface="Calibri"/>
                <a:sym typeface="Calibri"/>
              </a:rPr>
              <a:t>Управление на задачи</a:t>
            </a: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990600" y="2533650"/>
            <a:ext cx="228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>
                <a:solidFill>
                  <a:srgbClr val="FF6467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1314450" y="2533650"/>
            <a:ext cx="4000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създаване, редактиране и изтриване</a:t>
            </a:r>
            <a:endParaRPr/>
          </a:p>
        </p:txBody>
      </p:sp>
      <p:sp>
        <p:nvSpPr>
          <p:cNvPr id="109" name="Google Shape;109;p7"/>
          <p:cNvSpPr/>
          <p:nvPr/>
        </p:nvSpPr>
        <p:spPr>
          <a:xfrm>
            <a:off x="990600" y="2952750"/>
            <a:ext cx="228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>
                <a:solidFill>
                  <a:srgbClr val="FF6467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1314450" y="2952750"/>
            <a:ext cx="4000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статуси: TODO, IN_PROGRESS, DONE</a:t>
            </a: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990600" y="3371850"/>
            <a:ext cx="228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>
                <a:solidFill>
                  <a:srgbClr val="FF6467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/>
          </a:p>
        </p:txBody>
      </p:sp>
      <p:sp>
        <p:nvSpPr>
          <p:cNvPr id="112" name="Google Shape;112;p7"/>
          <p:cNvSpPr/>
          <p:nvPr/>
        </p:nvSpPr>
        <p:spPr>
          <a:xfrm>
            <a:off x="1314450" y="3371850"/>
            <a:ext cx="4000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приоритети: LOW, MEDIUM, HIGH</a:t>
            </a: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990600" y="3790950"/>
            <a:ext cx="228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>
                <a:solidFill>
                  <a:srgbClr val="FF6467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1314450" y="3790950"/>
            <a:ext cx="4000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краен срок за изпълнение</a:t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990600" y="4210050"/>
            <a:ext cx="228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>
                <a:solidFill>
                  <a:srgbClr val="FF6467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1314450" y="4210050"/>
            <a:ext cx="4000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търсене, филтриране и сортиране</a:t>
            </a: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6429375" y="1562100"/>
            <a:ext cx="5000625" cy="3905250"/>
          </a:xfrm>
          <a:prstGeom prst="roundRect">
            <a:avLst>
              <a:gd fmla="val 1951" name="adj"/>
            </a:avLst>
          </a:prstGeom>
          <a:solidFill>
            <a:srgbClr val="0F172B"/>
          </a:solidFill>
          <a:ln cap="flat" cmpd="sng" w="9525">
            <a:solidFill>
              <a:srgbClr val="314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6762750" y="1885950"/>
            <a:ext cx="37147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>
                <a:solidFill>
                  <a:srgbClr val="FFC9C9"/>
                </a:solidFill>
                <a:latin typeface="Calibri"/>
                <a:ea typeface="Calibri"/>
                <a:cs typeface="Calibri"/>
                <a:sym typeface="Calibri"/>
              </a:rPr>
              <a:t>Потребители и коментари</a:t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6762750" y="2533650"/>
            <a:ext cx="228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>
                <a:solidFill>
                  <a:srgbClr val="FF6467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7086600" y="2533650"/>
            <a:ext cx="4000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регистрация и вход</a:t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6762750" y="2952750"/>
            <a:ext cx="228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>
                <a:solidFill>
                  <a:srgbClr val="FF6467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7086600" y="2952750"/>
            <a:ext cx="4000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изход от системата</a:t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6762750" y="3371850"/>
            <a:ext cx="228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>
                <a:solidFill>
                  <a:srgbClr val="FF6467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7086600" y="3371850"/>
            <a:ext cx="4000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лични задачи за всеки потребител</a:t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6762750" y="3790950"/>
            <a:ext cx="228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>
                <a:solidFill>
                  <a:srgbClr val="FF6467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7086600" y="3790950"/>
            <a:ext cx="4000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коментари към всяка задача</a:t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6762750" y="4210050"/>
            <a:ext cx="228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>
                <a:solidFill>
                  <a:srgbClr val="FF6467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7086600" y="4210050"/>
            <a:ext cx="4000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данните се пазят в MySQL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8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/>
          <p:nvPr/>
        </p:nvSpPr>
        <p:spPr>
          <a:xfrm>
            <a:off x="552450" y="285750"/>
            <a:ext cx="4000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FFA2A2"/>
                </a:solidFill>
                <a:latin typeface="Calibri"/>
                <a:ea typeface="Calibri"/>
                <a:cs typeface="Calibri"/>
                <a:sym typeface="Calibri"/>
              </a:rPr>
              <a:t>TASK MANAGER</a:t>
            </a:r>
            <a:endParaRPr/>
          </a:p>
        </p:txBody>
      </p:sp>
      <p:sp>
        <p:nvSpPr>
          <p:cNvPr id="135" name="Google Shape;135;p8"/>
          <p:cNvSpPr/>
          <p:nvPr/>
        </p:nvSpPr>
        <p:spPr>
          <a:xfrm>
            <a:off x="552450" y="609600"/>
            <a:ext cx="9334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Сигурността ограничава достъпа до личните задачи</a:t>
            </a:r>
            <a:endParaRPr/>
          </a:p>
        </p:txBody>
      </p:sp>
      <p:sp>
        <p:nvSpPr>
          <p:cNvPr id="136" name="Google Shape;136;p8"/>
          <p:cNvSpPr/>
          <p:nvPr/>
        </p:nvSpPr>
        <p:spPr>
          <a:xfrm>
            <a:off x="552450" y="1200150"/>
            <a:ext cx="11087100" cy="9525"/>
          </a:xfrm>
          <a:prstGeom prst="rect">
            <a:avLst/>
          </a:prstGeom>
          <a:solidFill>
            <a:srgbClr val="314158"/>
          </a:solidFill>
          <a:ln cap="flat" cmpd="sng" w="9525">
            <a:solidFill>
              <a:srgbClr val="314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"/>
          <p:cNvSpPr/>
          <p:nvPr/>
        </p:nvSpPr>
        <p:spPr>
          <a:xfrm>
            <a:off x="723900" y="1638300"/>
            <a:ext cx="228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>
                <a:solidFill>
                  <a:srgbClr val="FF6467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/>
          </a:p>
        </p:txBody>
      </p:sp>
      <p:sp>
        <p:nvSpPr>
          <p:cNvPr id="138" name="Google Shape;138;p8"/>
          <p:cNvSpPr/>
          <p:nvPr/>
        </p:nvSpPr>
        <p:spPr>
          <a:xfrm>
            <a:off x="1047750" y="1638300"/>
            <a:ext cx="6096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Потребителите се регистрират с потребителско име и парола.</a:t>
            </a:r>
            <a:endParaRPr/>
          </a:p>
        </p:txBody>
      </p:sp>
      <p:sp>
        <p:nvSpPr>
          <p:cNvPr id="139" name="Google Shape;139;p8"/>
          <p:cNvSpPr/>
          <p:nvPr/>
        </p:nvSpPr>
        <p:spPr>
          <a:xfrm>
            <a:off x="723900" y="2190750"/>
            <a:ext cx="228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>
                <a:solidFill>
                  <a:srgbClr val="FF6467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1047750" y="2190750"/>
            <a:ext cx="6096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Паролите се съхраняват криптирани чрез BCrypt.</a:t>
            </a:r>
            <a:endParaRPr/>
          </a:p>
        </p:txBody>
      </p:sp>
      <p:sp>
        <p:nvSpPr>
          <p:cNvPr id="141" name="Google Shape;141;p8"/>
          <p:cNvSpPr/>
          <p:nvPr/>
        </p:nvSpPr>
        <p:spPr>
          <a:xfrm>
            <a:off x="723900" y="2743200"/>
            <a:ext cx="228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>
                <a:solidFill>
                  <a:srgbClr val="FF6467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/>
          </a:p>
        </p:txBody>
      </p:sp>
      <p:sp>
        <p:nvSpPr>
          <p:cNvPr id="142" name="Google Shape;142;p8"/>
          <p:cNvSpPr/>
          <p:nvPr/>
        </p:nvSpPr>
        <p:spPr>
          <a:xfrm>
            <a:off x="1047750" y="2743200"/>
            <a:ext cx="6096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Spring Security управлява входа и изхода от системата.</a:t>
            </a:r>
            <a:endParaRPr/>
          </a:p>
        </p:txBody>
      </p:sp>
      <p:sp>
        <p:nvSpPr>
          <p:cNvPr id="143" name="Google Shape;143;p8"/>
          <p:cNvSpPr/>
          <p:nvPr/>
        </p:nvSpPr>
        <p:spPr>
          <a:xfrm>
            <a:off x="723900" y="3295650"/>
            <a:ext cx="228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>
                <a:solidFill>
                  <a:srgbClr val="FF6467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/>
          </a:p>
        </p:txBody>
      </p:sp>
      <p:sp>
        <p:nvSpPr>
          <p:cNvPr id="144" name="Google Shape;144;p8"/>
          <p:cNvSpPr/>
          <p:nvPr/>
        </p:nvSpPr>
        <p:spPr>
          <a:xfrm>
            <a:off x="1047750" y="3295650"/>
            <a:ext cx="6096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Всеки потребител вижда само задачите, които сам е създал.</a:t>
            </a:r>
            <a:endParaRPr/>
          </a:p>
        </p:txBody>
      </p:sp>
      <p:sp>
        <p:nvSpPr>
          <p:cNvPr id="145" name="Google Shape;145;p8"/>
          <p:cNvSpPr/>
          <p:nvPr/>
        </p:nvSpPr>
        <p:spPr>
          <a:xfrm>
            <a:off x="7667625" y="1524000"/>
            <a:ext cx="3143250" cy="3238500"/>
          </a:xfrm>
          <a:prstGeom prst="roundRect">
            <a:avLst>
              <a:gd fmla="val 2424" name="adj"/>
            </a:avLst>
          </a:prstGeom>
          <a:solidFill>
            <a:srgbClr val="460809"/>
          </a:solidFill>
          <a:ln cap="flat" cmpd="sng" w="9525">
            <a:solidFill>
              <a:srgbClr val="9F07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"/>
          <p:cNvSpPr/>
          <p:nvPr/>
        </p:nvSpPr>
        <p:spPr>
          <a:xfrm>
            <a:off x="8096250" y="2000250"/>
            <a:ext cx="21907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>
                <a:solidFill>
                  <a:srgbClr val="FFE2E2"/>
                </a:solidFill>
                <a:latin typeface="Calibri"/>
                <a:ea typeface="Calibri"/>
                <a:cs typeface="Calibri"/>
                <a:sym typeface="Calibri"/>
              </a:rPr>
              <a:t>Проверка</a:t>
            </a:r>
            <a:endParaRPr/>
          </a:p>
        </p:txBody>
      </p:sp>
      <p:sp>
        <p:nvSpPr>
          <p:cNvPr id="147" name="Google Shape;147;p8"/>
          <p:cNvSpPr/>
          <p:nvPr/>
        </p:nvSpPr>
        <p:spPr>
          <a:xfrm>
            <a:off x="8096250" y="2724150"/>
            <a:ext cx="22860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user1 не вижда задачите на user2.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Коментарите също са защитени през задачата, към която принадлежат.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8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"/>
          <p:cNvSpPr/>
          <p:nvPr/>
        </p:nvSpPr>
        <p:spPr>
          <a:xfrm>
            <a:off x="552450" y="285750"/>
            <a:ext cx="4000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FFA2A2"/>
                </a:solidFill>
                <a:latin typeface="Calibri"/>
                <a:ea typeface="Calibri"/>
                <a:cs typeface="Calibri"/>
                <a:sym typeface="Calibri"/>
              </a:rPr>
              <a:t>TASK MANAGER</a:t>
            </a:r>
            <a:endParaRPr/>
          </a:p>
        </p:txBody>
      </p:sp>
      <p:sp>
        <p:nvSpPr>
          <p:cNvPr id="154" name="Google Shape;154;p9"/>
          <p:cNvSpPr/>
          <p:nvPr/>
        </p:nvSpPr>
        <p:spPr>
          <a:xfrm>
            <a:off x="552450" y="609600"/>
            <a:ext cx="6491400" cy="11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Кодът е разделен на модели, контролери, услуги и repositories</a:t>
            </a:r>
            <a:endParaRPr/>
          </a:p>
        </p:txBody>
      </p:sp>
      <p:sp>
        <p:nvSpPr>
          <p:cNvPr id="155" name="Google Shape;155;p9"/>
          <p:cNvSpPr/>
          <p:nvPr/>
        </p:nvSpPr>
        <p:spPr>
          <a:xfrm>
            <a:off x="503525" y="1836050"/>
            <a:ext cx="11087100" cy="9600"/>
          </a:xfrm>
          <a:prstGeom prst="rect">
            <a:avLst/>
          </a:prstGeom>
          <a:solidFill>
            <a:srgbClr val="314158"/>
          </a:solidFill>
          <a:ln cap="flat" cmpd="sng" w="9525">
            <a:solidFill>
              <a:srgbClr val="314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9"/>
          <p:cNvSpPr/>
          <p:nvPr/>
        </p:nvSpPr>
        <p:spPr>
          <a:xfrm>
            <a:off x="866550" y="3186400"/>
            <a:ext cx="6011100" cy="26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25">
                <a:solidFill>
                  <a:srgbClr val="CAD5E2"/>
                </a:solidFill>
                <a:latin typeface="Calibri"/>
                <a:ea typeface="Calibri"/>
                <a:cs typeface="Calibri"/>
                <a:sym typeface="Calibri"/>
              </a:rPr>
              <a:t>Структурата показва разделението между controller, model, repository и service пакети.</a:t>
            </a:r>
            <a:endParaRPr sz="1900"/>
          </a:p>
        </p:txBody>
      </p:sp>
      <p:pic>
        <p:nvPicPr>
          <p:cNvPr id="157" name="Google Shape;157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77250" y="806675"/>
            <a:ext cx="4914751" cy="590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8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"/>
          <p:cNvSpPr/>
          <p:nvPr/>
        </p:nvSpPr>
        <p:spPr>
          <a:xfrm>
            <a:off x="552450" y="285750"/>
            <a:ext cx="4000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FFA2A2"/>
                </a:solidFill>
                <a:latin typeface="Calibri"/>
                <a:ea typeface="Calibri"/>
                <a:cs typeface="Calibri"/>
                <a:sym typeface="Calibri"/>
              </a:rPr>
              <a:t>TASK MANAGER</a:t>
            </a:r>
            <a:endParaRPr/>
          </a:p>
        </p:txBody>
      </p:sp>
      <p:sp>
        <p:nvSpPr>
          <p:cNvPr id="164" name="Google Shape;164;p10"/>
          <p:cNvSpPr/>
          <p:nvPr/>
        </p:nvSpPr>
        <p:spPr>
          <a:xfrm>
            <a:off x="552450" y="609600"/>
            <a:ext cx="9334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MySQL пази потребителите, задачите и коментарите</a:t>
            </a:r>
            <a:endParaRPr/>
          </a:p>
        </p:txBody>
      </p:sp>
      <p:sp>
        <p:nvSpPr>
          <p:cNvPr id="165" name="Google Shape;165;p10"/>
          <p:cNvSpPr/>
          <p:nvPr/>
        </p:nvSpPr>
        <p:spPr>
          <a:xfrm>
            <a:off x="552450" y="1200150"/>
            <a:ext cx="11087100" cy="9525"/>
          </a:xfrm>
          <a:prstGeom prst="rect">
            <a:avLst/>
          </a:prstGeom>
          <a:solidFill>
            <a:srgbClr val="314158"/>
          </a:solidFill>
          <a:ln cap="flat" cmpd="sng" w="9525">
            <a:solidFill>
              <a:srgbClr val="314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6" name="Google Shape;16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750" y="1629425"/>
            <a:ext cx="7220100" cy="3864000"/>
          </a:xfrm>
          <a:prstGeom prst="roundRect">
            <a:avLst>
              <a:gd fmla="val 2051" name="adj"/>
            </a:avLst>
          </a:prstGeom>
          <a:noFill/>
          <a:ln>
            <a:noFill/>
          </a:ln>
        </p:spPr>
      </p:pic>
      <p:sp>
        <p:nvSpPr>
          <p:cNvPr id="167" name="Google Shape;167;p10"/>
          <p:cNvSpPr/>
          <p:nvPr/>
        </p:nvSpPr>
        <p:spPr>
          <a:xfrm>
            <a:off x="8522150" y="2262425"/>
            <a:ext cx="3429000" cy="3048000"/>
          </a:xfrm>
          <a:prstGeom prst="roundRect">
            <a:avLst>
              <a:gd fmla="val 2500" name="adj"/>
            </a:avLst>
          </a:prstGeom>
          <a:solidFill>
            <a:srgbClr val="1D293D"/>
          </a:solidFill>
          <a:ln cap="flat" cmpd="sng" w="9525">
            <a:solidFill>
              <a:srgbClr val="314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0"/>
          <p:cNvSpPr/>
          <p:nvPr/>
        </p:nvSpPr>
        <p:spPr>
          <a:xfrm>
            <a:off x="8998400" y="2411650"/>
            <a:ext cx="24765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>
                <a:solidFill>
                  <a:srgbClr val="FFC9C9"/>
                </a:solidFill>
                <a:latin typeface="Calibri"/>
                <a:ea typeface="Calibri"/>
                <a:cs typeface="Calibri"/>
                <a:sym typeface="Calibri"/>
              </a:rPr>
              <a:t>Основни таблици</a:t>
            </a:r>
            <a:endParaRPr/>
          </a:p>
        </p:txBody>
      </p:sp>
      <p:sp>
        <p:nvSpPr>
          <p:cNvPr id="169" name="Google Shape;169;p10"/>
          <p:cNvSpPr/>
          <p:nvPr/>
        </p:nvSpPr>
        <p:spPr>
          <a:xfrm>
            <a:off x="7658100" y="2667000"/>
            <a:ext cx="228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>
                <a:solidFill>
                  <a:srgbClr val="FF6467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/>
          </a:p>
        </p:txBody>
      </p:sp>
      <p:sp>
        <p:nvSpPr>
          <p:cNvPr id="170" name="Google Shape;170;p10"/>
          <p:cNvSpPr/>
          <p:nvPr/>
        </p:nvSpPr>
        <p:spPr>
          <a:xfrm>
            <a:off x="9322250" y="3097450"/>
            <a:ext cx="2476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users: акаунти и роли</a:t>
            </a:r>
            <a:endParaRPr/>
          </a:p>
        </p:txBody>
      </p:sp>
      <p:sp>
        <p:nvSpPr>
          <p:cNvPr id="171" name="Google Shape;171;p10"/>
          <p:cNvSpPr/>
          <p:nvPr/>
        </p:nvSpPr>
        <p:spPr>
          <a:xfrm>
            <a:off x="7658100" y="3086100"/>
            <a:ext cx="228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>
                <a:solidFill>
                  <a:srgbClr val="FF6467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/>
          </a:p>
        </p:txBody>
      </p:sp>
      <p:sp>
        <p:nvSpPr>
          <p:cNvPr id="172" name="Google Shape;172;p10"/>
          <p:cNvSpPr/>
          <p:nvPr/>
        </p:nvSpPr>
        <p:spPr>
          <a:xfrm>
            <a:off x="9322250" y="3516550"/>
            <a:ext cx="2476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tasks: задачи и user_id</a:t>
            </a:r>
            <a:endParaRPr/>
          </a:p>
        </p:txBody>
      </p:sp>
      <p:sp>
        <p:nvSpPr>
          <p:cNvPr id="173" name="Google Shape;173;p10"/>
          <p:cNvSpPr/>
          <p:nvPr/>
        </p:nvSpPr>
        <p:spPr>
          <a:xfrm>
            <a:off x="7658100" y="3505200"/>
            <a:ext cx="228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>
                <a:solidFill>
                  <a:srgbClr val="FF6467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/>
          </a:p>
        </p:txBody>
      </p:sp>
      <p:sp>
        <p:nvSpPr>
          <p:cNvPr id="174" name="Google Shape;174;p10"/>
          <p:cNvSpPr/>
          <p:nvPr/>
        </p:nvSpPr>
        <p:spPr>
          <a:xfrm>
            <a:off x="9322250" y="3935650"/>
            <a:ext cx="2476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comments: текст и task_id</a:t>
            </a:r>
            <a:endParaRPr/>
          </a:p>
        </p:txBody>
      </p:sp>
      <p:sp>
        <p:nvSpPr>
          <p:cNvPr id="175" name="Google Shape;175;p10"/>
          <p:cNvSpPr/>
          <p:nvPr/>
        </p:nvSpPr>
        <p:spPr>
          <a:xfrm>
            <a:off x="7658100" y="3924300"/>
            <a:ext cx="228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>
                <a:solidFill>
                  <a:srgbClr val="FF6467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/>
          </a:p>
        </p:txBody>
      </p:sp>
      <p:sp>
        <p:nvSpPr>
          <p:cNvPr id="176" name="Google Shape;176;p10"/>
          <p:cNvSpPr/>
          <p:nvPr/>
        </p:nvSpPr>
        <p:spPr>
          <a:xfrm>
            <a:off x="9322250" y="4354750"/>
            <a:ext cx="2476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данните остават след рестарт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8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"/>
          <p:cNvSpPr/>
          <p:nvPr/>
        </p:nvSpPr>
        <p:spPr>
          <a:xfrm>
            <a:off x="552450" y="285750"/>
            <a:ext cx="4000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FFA2A2"/>
                </a:solidFill>
                <a:latin typeface="Calibri"/>
                <a:ea typeface="Calibri"/>
                <a:cs typeface="Calibri"/>
                <a:sym typeface="Calibri"/>
              </a:rPr>
              <a:t>TASK MANAGER</a:t>
            </a:r>
            <a:endParaRPr/>
          </a:p>
        </p:txBody>
      </p:sp>
      <p:sp>
        <p:nvSpPr>
          <p:cNvPr id="183" name="Google Shape;183;p11"/>
          <p:cNvSpPr/>
          <p:nvPr/>
        </p:nvSpPr>
        <p:spPr>
          <a:xfrm>
            <a:off x="552450" y="609600"/>
            <a:ext cx="9334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Unit тестовете проверяват основната бизнес логика</a:t>
            </a:r>
            <a:endParaRPr/>
          </a:p>
        </p:txBody>
      </p:sp>
      <p:sp>
        <p:nvSpPr>
          <p:cNvPr id="184" name="Google Shape;184;p11"/>
          <p:cNvSpPr/>
          <p:nvPr/>
        </p:nvSpPr>
        <p:spPr>
          <a:xfrm>
            <a:off x="552450" y="1200150"/>
            <a:ext cx="11087100" cy="9525"/>
          </a:xfrm>
          <a:prstGeom prst="rect">
            <a:avLst/>
          </a:prstGeom>
          <a:solidFill>
            <a:srgbClr val="314158"/>
          </a:solidFill>
          <a:ln cap="flat" cmpd="sng" w="9525">
            <a:solidFill>
              <a:srgbClr val="314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1"/>
          <p:cNvSpPr/>
          <p:nvPr/>
        </p:nvSpPr>
        <p:spPr>
          <a:xfrm>
            <a:off x="723900" y="1600200"/>
            <a:ext cx="4953000" cy="3143250"/>
          </a:xfrm>
          <a:prstGeom prst="roundRect">
            <a:avLst>
              <a:gd fmla="val 2424" name="adj"/>
            </a:avLst>
          </a:prstGeom>
          <a:solidFill>
            <a:srgbClr val="1D293D"/>
          </a:solidFill>
          <a:ln cap="flat" cmpd="sng" w="9525">
            <a:solidFill>
              <a:srgbClr val="314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1"/>
          <p:cNvSpPr/>
          <p:nvPr/>
        </p:nvSpPr>
        <p:spPr>
          <a:xfrm>
            <a:off x="1047750" y="1962150"/>
            <a:ext cx="3238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>
                <a:solidFill>
                  <a:srgbClr val="FFC9C9"/>
                </a:solidFill>
                <a:latin typeface="Calibri"/>
                <a:ea typeface="Calibri"/>
                <a:cs typeface="Calibri"/>
                <a:sym typeface="Calibri"/>
              </a:rPr>
              <a:t>Тествани сценарии</a:t>
            </a:r>
            <a:endParaRPr/>
          </a:p>
        </p:txBody>
      </p:sp>
      <p:sp>
        <p:nvSpPr>
          <p:cNvPr id="187" name="Google Shape;187;p11"/>
          <p:cNvSpPr/>
          <p:nvPr/>
        </p:nvSpPr>
        <p:spPr>
          <a:xfrm>
            <a:off x="1047750" y="2590800"/>
            <a:ext cx="228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>
                <a:solidFill>
                  <a:srgbClr val="FF6467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/>
          </a:p>
        </p:txBody>
      </p:sp>
      <p:sp>
        <p:nvSpPr>
          <p:cNvPr id="188" name="Google Shape;188;p11"/>
          <p:cNvSpPr/>
          <p:nvPr/>
        </p:nvSpPr>
        <p:spPr>
          <a:xfrm>
            <a:off x="1371600" y="2590800"/>
            <a:ext cx="37147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създаване на задача</a:t>
            </a:r>
            <a:endParaRPr/>
          </a:p>
        </p:txBody>
      </p:sp>
      <p:sp>
        <p:nvSpPr>
          <p:cNvPr id="189" name="Google Shape;189;p11"/>
          <p:cNvSpPr/>
          <p:nvPr/>
        </p:nvSpPr>
        <p:spPr>
          <a:xfrm>
            <a:off x="1047750" y="2971800"/>
            <a:ext cx="228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>
                <a:solidFill>
                  <a:srgbClr val="FF6467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/>
          </a:p>
        </p:txBody>
      </p:sp>
      <p:sp>
        <p:nvSpPr>
          <p:cNvPr id="190" name="Google Shape;190;p11"/>
          <p:cNvSpPr/>
          <p:nvPr/>
        </p:nvSpPr>
        <p:spPr>
          <a:xfrm>
            <a:off x="1371600" y="2971800"/>
            <a:ext cx="37147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търсене и сортиране</a:t>
            </a:r>
            <a:endParaRPr/>
          </a:p>
        </p:txBody>
      </p:sp>
      <p:sp>
        <p:nvSpPr>
          <p:cNvPr id="191" name="Google Shape;191;p11"/>
          <p:cNvSpPr/>
          <p:nvPr/>
        </p:nvSpPr>
        <p:spPr>
          <a:xfrm>
            <a:off x="1047750" y="3352800"/>
            <a:ext cx="228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>
                <a:solidFill>
                  <a:srgbClr val="FF6467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/>
          </a:p>
        </p:txBody>
      </p:sp>
      <p:sp>
        <p:nvSpPr>
          <p:cNvPr id="192" name="Google Shape;192;p11"/>
          <p:cNvSpPr/>
          <p:nvPr/>
        </p:nvSpPr>
        <p:spPr>
          <a:xfrm>
            <a:off x="1371600" y="3352800"/>
            <a:ext cx="37147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изтриване на задача и коментари</a:t>
            </a:r>
            <a:endParaRPr/>
          </a:p>
        </p:txBody>
      </p:sp>
      <p:sp>
        <p:nvSpPr>
          <p:cNvPr id="193" name="Google Shape;193;p11"/>
          <p:cNvSpPr/>
          <p:nvPr/>
        </p:nvSpPr>
        <p:spPr>
          <a:xfrm>
            <a:off x="1047750" y="3733800"/>
            <a:ext cx="228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>
                <a:solidFill>
                  <a:srgbClr val="FF6467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/>
          </a:p>
        </p:txBody>
      </p:sp>
      <p:sp>
        <p:nvSpPr>
          <p:cNvPr id="194" name="Google Shape;194;p11"/>
          <p:cNvSpPr/>
          <p:nvPr/>
        </p:nvSpPr>
        <p:spPr>
          <a:xfrm>
            <a:off x="1371600" y="3733800"/>
            <a:ext cx="37147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достъп само до лични задачи</a:t>
            </a:r>
            <a:endParaRPr/>
          </a:p>
        </p:txBody>
      </p:sp>
      <p:sp>
        <p:nvSpPr>
          <p:cNvPr id="195" name="Google Shape;195;p11"/>
          <p:cNvSpPr/>
          <p:nvPr/>
        </p:nvSpPr>
        <p:spPr>
          <a:xfrm>
            <a:off x="1047750" y="4114800"/>
            <a:ext cx="228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>
                <a:solidFill>
                  <a:srgbClr val="FF6467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/>
          </a:p>
        </p:txBody>
      </p:sp>
      <p:sp>
        <p:nvSpPr>
          <p:cNvPr id="196" name="Google Shape;196;p11"/>
          <p:cNvSpPr/>
          <p:nvPr/>
        </p:nvSpPr>
        <p:spPr>
          <a:xfrm>
            <a:off x="1371600" y="4114800"/>
            <a:ext cx="37147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добавяне и изтриване на коментари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8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2"/>
          <p:cNvSpPr/>
          <p:nvPr/>
        </p:nvSpPr>
        <p:spPr>
          <a:xfrm>
            <a:off x="552450" y="285750"/>
            <a:ext cx="4000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FFA2A2"/>
                </a:solidFill>
                <a:latin typeface="Calibri"/>
                <a:ea typeface="Calibri"/>
                <a:cs typeface="Calibri"/>
                <a:sym typeface="Calibri"/>
              </a:rPr>
              <a:t>TASK MANAGER</a:t>
            </a:r>
            <a:endParaRPr/>
          </a:p>
        </p:txBody>
      </p:sp>
      <p:sp>
        <p:nvSpPr>
          <p:cNvPr id="203" name="Google Shape;203;p12"/>
          <p:cNvSpPr/>
          <p:nvPr/>
        </p:nvSpPr>
        <p:spPr>
          <a:xfrm>
            <a:off x="552450" y="609600"/>
            <a:ext cx="9334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Проектът покрива основните изисквания и може да се развива</a:t>
            </a:r>
            <a:endParaRPr/>
          </a:p>
        </p:txBody>
      </p:sp>
      <p:sp>
        <p:nvSpPr>
          <p:cNvPr id="204" name="Google Shape;204;p12"/>
          <p:cNvSpPr/>
          <p:nvPr/>
        </p:nvSpPr>
        <p:spPr>
          <a:xfrm>
            <a:off x="552450" y="1200150"/>
            <a:ext cx="11087100" cy="9525"/>
          </a:xfrm>
          <a:prstGeom prst="rect">
            <a:avLst/>
          </a:prstGeom>
          <a:solidFill>
            <a:srgbClr val="314158"/>
          </a:solidFill>
          <a:ln cap="flat" cmpd="sng" w="9525">
            <a:solidFill>
              <a:srgbClr val="314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2"/>
          <p:cNvSpPr/>
          <p:nvPr/>
        </p:nvSpPr>
        <p:spPr>
          <a:xfrm>
            <a:off x="762000" y="1638300"/>
            <a:ext cx="89535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Реализирана е работеща система с регистрация, лични задачи, коментари, MySQL база данни, търсене, филтриране, сортиране и unit тестове.</a:t>
            </a:r>
            <a:endParaRPr/>
          </a:p>
        </p:txBody>
      </p:sp>
      <p:sp>
        <p:nvSpPr>
          <p:cNvPr id="206" name="Google Shape;206;p12"/>
          <p:cNvSpPr/>
          <p:nvPr/>
        </p:nvSpPr>
        <p:spPr>
          <a:xfrm>
            <a:off x="781050" y="3067050"/>
            <a:ext cx="4572000" cy="2108100"/>
          </a:xfrm>
          <a:prstGeom prst="roundRect">
            <a:avLst>
              <a:gd fmla="val 4444" name="adj"/>
            </a:avLst>
          </a:prstGeom>
          <a:solidFill>
            <a:srgbClr val="1D293D"/>
          </a:solidFill>
          <a:ln cap="flat" cmpd="sng" w="9525">
            <a:solidFill>
              <a:srgbClr val="314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2"/>
          <p:cNvSpPr/>
          <p:nvPr/>
        </p:nvSpPr>
        <p:spPr>
          <a:xfrm>
            <a:off x="1104900" y="3390900"/>
            <a:ext cx="3048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5">
                <a:solidFill>
                  <a:srgbClr val="FFC9C9"/>
                </a:solidFill>
                <a:latin typeface="Calibri"/>
                <a:ea typeface="Calibri"/>
                <a:cs typeface="Calibri"/>
                <a:sym typeface="Calibri"/>
              </a:rPr>
              <a:t>Покрити изисквания</a:t>
            </a:r>
            <a:endParaRPr/>
          </a:p>
        </p:txBody>
      </p:sp>
      <p:sp>
        <p:nvSpPr>
          <p:cNvPr id="208" name="Google Shape;208;p12"/>
          <p:cNvSpPr/>
          <p:nvPr/>
        </p:nvSpPr>
        <p:spPr>
          <a:xfrm>
            <a:off x="1104900" y="3981450"/>
            <a:ext cx="228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>
                <a:solidFill>
                  <a:srgbClr val="FF6467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/>
          </a:p>
        </p:txBody>
      </p:sp>
      <p:sp>
        <p:nvSpPr>
          <p:cNvPr id="209" name="Google Shape;209;p12"/>
          <p:cNvSpPr/>
          <p:nvPr/>
        </p:nvSpPr>
        <p:spPr>
          <a:xfrm>
            <a:off x="1428750" y="3981450"/>
            <a:ext cx="3333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CRUD задачи</a:t>
            </a:r>
            <a:endParaRPr/>
          </a:p>
        </p:txBody>
      </p:sp>
      <p:sp>
        <p:nvSpPr>
          <p:cNvPr id="210" name="Google Shape;210;p12"/>
          <p:cNvSpPr/>
          <p:nvPr/>
        </p:nvSpPr>
        <p:spPr>
          <a:xfrm>
            <a:off x="1104900" y="4324350"/>
            <a:ext cx="228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>
                <a:solidFill>
                  <a:srgbClr val="FF6467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/>
          </a:p>
        </p:txBody>
      </p:sp>
      <p:sp>
        <p:nvSpPr>
          <p:cNvPr id="211" name="Google Shape;211;p12"/>
          <p:cNvSpPr/>
          <p:nvPr/>
        </p:nvSpPr>
        <p:spPr>
          <a:xfrm>
            <a:off x="1428750" y="4324350"/>
            <a:ext cx="3333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потребители и сигурност</a:t>
            </a:r>
            <a:endParaRPr/>
          </a:p>
        </p:txBody>
      </p:sp>
      <p:sp>
        <p:nvSpPr>
          <p:cNvPr id="212" name="Google Shape;212;p12"/>
          <p:cNvSpPr/>
          <p:nvPr/>
        </p:nvSpPr>
        <p:spPr>
          <a:xfrm>
            <a:off x="1104900" y="4667250"/>
            <a:ext cx="228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>
                <a:solidFill>
                  <a:srgbClr val="FF6467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/>
          </a:p>
        </p:txBody>
      </p:sp>
      <p:sp>
        <p:nvSpPr>
          <p:cNvPr id="213" name="Google Shape;213;p12"/>
          <p:cNvSpPr/>
          <p:nvPr/>
        </p:nvSpPr>
        <p:spPr>
          <a:xfrm>
            <a:off x="1428750" y="4667250"/>
            <a:ext cx="3333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коментари и база данни</a:t>
            </a:r>
            <a:endParaRPr/>
          </a:p>
        </p:txBody>
      </p:sp>
      <p:sp>
        <p:nvSpPr>
          <p:cNvPr id="214" name="Google Shape;214;p12"/>
          <p:cNvSpPr/>
          <p:nvPr/>
        </p:nvSpPr>
        <p:spPr>
          <a:xfrm>
            <a:off x="6286500" y="3067050"/>
            <a:ext cx="4572000" cy="2108100"/>
          </a:xfrm>
          <a:prstGeom prst="roundRect">
            <a:avLst>
              <a:gd fmla="val 4444" name="adj"/>
            </a:avLst>
          </a:prstGeom>
          <a:solidFill>
            <a:srgbClr val="1D293D"/>
          </a:solidFill>
          <a:ln cap="flat" cmpd="sng" w="9525">
            <a:solidFill>
              <a:srgbClr val="314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2"/>
          <p:cNvSpPr/>
          <p:nvPr/>
        </p:nvSpPr>
        <p:spPr>
          <a:xfrm>
            <a:off x="6610350" y="3390900"/>
            <a:ext cx="3048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5">
                <a:solidFill>
                  <a:srgbClr val="FFC9C9"/>
                </a:solidFill>
                <a:latin typeface="Calibri"/>
                <a:ea typeface="Calibri"/>
                <a:cs typeface="Calibri"/>
                <a:sym typeface="Calibri"/>
              </a:rPr>
              <a:t>Бъдещо развитие</a:t>
            </a:r>
            <a:endParaRPr/>
          </a:p>
        </p:txBody>
      </p:sp>
      <p:sp>
        <p:nvSpPr>
          <p:cNvPr id="216" name="Google Shape;216;p12"/>
          <p:cNvSpPr/>
          <p:nvPr/>
        </p:nvSpPr>
        <p:spPr>
          <a:xfrm>
            <a:off x="6610350" y="3981450"/>
            <a:ext cx="228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>
                <a:solidFill>
                  <a:srgbClr val="FF6467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/>
          </a:p>
        </p:txBody>
      </p:sp>
      <p:sp>
        <p:nvSpPr>
          <p:cNvPr id="217" name="Google Shape;217;p12"/>
          <p:cNvSpPr/>
          <p:nvPr/>
        </p:nvSpPr>
        <p:spPr>
          <a:xfrm>
            <a:off x="6934200" y="3981450"/>
            <a:ext cx="3333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администраторски панел</a:t>
            </a:r>
            <a:endParaRPr/>
          </a:p>
        </p:txBody>
      </p:sp>
      <p:sp>
        <p:nvSpPr>
          <p:cNvPr id="218" name="Google Shape;218;p12"/>
          <p:cNvSpPr/>
          <p:nvPr/>
        </p:nvSpPr>
        <p:spPr>
          <a:xfrm>
            <a:off x="6610350" y="4324350"/>
            <a:ext cx="228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>
                <a:solidFill>
                  <a:srgbClr val="FF6467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/>
          </a:p>
        </p:txBody>
      </p:sp>
      <p:sp>
        <p:nvSpPr>
          <p:cNvPr id="219" name="Google Shape;219;p12"/>
          <p:cNvSpPr/>
          <p:nvPr/>
        </p:nvSpPr>
        <p:spPr>
          <a:xfrm>
            <a:off x="6934200" y="4324350"/>
            <a:ext cx="3333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профил на потребителя</a:t>
            </a:r>
            <a:endParaRPr/>
          </a:p>
        </p:txBody>
      </p:sp>
      <p:sp>
        <p:nvSpPr>
          <p:cNvPr id="220" name="Google Shape;220;p12"/>
          <p:cNvSpPr/>
          <p:nvPr/>
        </p:nvSpPr>
        <p:spPr>
          <a:xfrm>
            <a:off x="6610350" y="4667250"/>
            <a:ext cx="228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>
                <a:solidFill>
                  <a:srgbClr val="FF6467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/>
          </a:p>
        </p:txBody>
      </p:sp>
      <p:sp>
        <p:nvSpPr>
          <p:cNvPr id="221" name="Google Shape;221;p12"/>
          <p:cNvSpPr/>
          <p:nvPr/>
        </p:nvSpPr>
        <p:spPr>
          <a:xfrm>
            <a:off x="6934200" y="4667250"/>
            <a:ext cx="3333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известия и календар</a:t>
            </a:r>
            <a:endParaRPr/>
          </a:p>
        </p:txBody>
      </p:sp>
      <p:sp>
        <p:nvSpPr>
          <p:cNvPr id="222" name="Google Shape;222;p12"/>
          <p:cNvSpPr/>
          <p:nvPr/>
        </p:nvSpPr>
        <p:spPr>
          <a:xfrm>
            <a:off x="762000" y="5619750"/>
            <a:ext cx="6096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>
                <a:solidFill>
                  <a:srgbClr val="FFC9C9"/>
                </a:solidFill>
                <a:latin typeface="Calibri"/>
                <a:ea typeface="Calibri"/>
                <a:cs typeface="Calibri"/>
                <a:sym typeface="Calibri"/>
              </a:rPr>
              <a:t>Благодаря за вниманието.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